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3" r:id="rId3"/>
    <p:sldId id="258" r:id="rId4"/>
    <p:sldId id="264" r:id="rId5"/>
    <p:sldId id="262" r:id="rId6"/>
    <p:sldId id="260" r:id="rId7"/>
  </p:sldIdLst>
  <p:sldSz cx="7772400" cy="100584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mpton Bold" panose="020B0604020202020204" charset="0"/>
      <p:regular r:id="rId12"/>
      <p:bold r:id="rId13"/>
    </p:embeddedFont>
    <p:embeddedFont>
      <p:font typeface="Campton Light" panose="020B0004020102020203" pitchFamily="34" charset="0"/>
      <p:regular r:id="rId14"/>
    </p:embeddedFont>
    <p:embeddedFont>
      <p:font typeface="Campton Medium" panose="020B0004020102020203" pitchFamily="34" charset="0"/>
      <p:regular r:id="rId15"/>
    </p:embeddedFont>
    <p:embeddedFont>
      <p:font typeface="Campton Semi-Bold" panose="020B0604020202020204" charset="0"/>
      <p:regular r:id="rId16"/>
      <p:bold r:id="rId17"/>
      <p:italic r:id="rId18"/>
      <p:boldItalic r:id="rId19"/>
    </p:embeddedFont>
    <p:embeddedFont>
      <p:font typeface="Montserrat Bold" pitchFamily="2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1C4C"/>
    <a:srgbClr val="FF92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2" autoAdjust="0"/>
  </p:normalViewPr>
  <p:slideViewPr>
    <p:cSldViewPr>
      <p:cViewPr varScale="1">
        <p:scale>
          <a:sx n="44" d="100"/>
          <a:sy n="44" d="100"/>
        </p:scale>
        <p:origin x="1915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DFDCD376-DC34-4C8C-90A6-E03DD23AE2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7772400" cy="100584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0" y="0"/>
            <a:ext cx="7772401" cy="10058400"/>
            <a:chOff x="0" y="0"/>
            <a:chExt cx="4764899" cy="5929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64899" cy="5929933"/>
            </a:xfrm>
            <a:custGeom>
              <a:avLst/>
              <a:gdLst/>
              <a:ahLst/>
              <a:cxnLst/>
              <a:rect l="l" t="t" r="r" b="b"/>
              <a:pathLst>
                <a:path w="4764899" h="5929933">
                  <a:moveTo>
                    <a:pt x="0" y="0"/>
                  </a:moveTo>
                  <a:lnTo>
                    <a:pt x="4764899" y="0"/>
                  </a:lnTo>
                  <a:lnTo>
                    <a:pt x="4764899" y="5929933"/>
                  </a:lnTo>
                  <a:lnTo>
                    <a:pt x="0" y="5929933"/>
                  </a:lnTo>
                  <a:close/>
                </a:path>
              </a:pathLst>
            </a:custGeom>
            <a:solidFill>
              <a:srgbClr val="081C4B">
                <a:alpha val="80000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764899" cy="5968033"/>
            </a:xfrm>
            <a:prstGeom prst="rect">
              <a:avLst/>
            </a:prstGeom>
          </p:spPr>
          <p:txBody>
            <a:bodyPr lIns="20425" tIns="20425" rIns="20425" bIns="20425" rtlCol="0" anchor="ctr"/>
            <a:lstStyle/>
            <a:p>
              <a:pPr algn="ctr">
                <a:lnSpc>
                  <a:spcPts val="135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178031" y="2119751"/>
            <a:ext cx="594369" cy="90923"/>
            <a:chOff x="0" y="0"/>
            <a:chExt cx="792492" cy="121231"/>
          </a:xfrm>
        </p:grpSpPr>
        <p:sp>
          <p:nvSpPr>
            <p:cNvPr id="7" name="AutoShape 7"/>
            <p:cNvSpPr/>
            <p:nvPr/>
          </p:nvSpPr>
          <p:spPr>
            <a:xfrm flipH="1" flipV="1">
              <a:off x="84045" y="60615"/>
              <a:ext cx="708447" cy="0"/>
            </a:xfrm>
            <a:prstGeom prst="line">
              <a:avLst/>
            </a:prstGeom>
            <a:ln w="25400" cap="flat">
              <a:solidFill>
                <a:srgbClr val="FF925C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8" name="Group 8"/>
            <p:cNvGrpSpPr/>
            <p:nvPr/>
          </p:nvGrpSpPr>
          <p:grpSpPr>
            <a:xfrm rot="-10800000">
              <a:off x="0" y="0"/>
              <a:ext cx="121231" cy="12123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25C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38536" tIns="38536" rIns="38536" bIns="38536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>
            <a:off x="4896827" y="777240"/>
            <a:ext cx="2187908" cy="735684"/>
          </a:xfrm>
          <a:custGeom>
            <a:avLst/>
            <a:gdLst/>
            <a:ahLst/>
            <a:cxnLst/>
            <a:rect l="l" t="t" r="r" b="b"/>
            <a:pathLst>
              <a:path w="2187908" h="735684">
                <a:moveTo>
                  <a:pt x="0" y="0"/>
                </a:moveTo>
                <a:lnTo>
                  <a:pt x="2187908" y="0"/>
                </a:lnTo>
                <a:lnTo>
                  <a:pt x="2187908" y="735684"/>
                </a:lnTo>
                <a:lnTo>
                  <a:pt x="0" y="735684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785668" y="1959290"/>
            <a:ext cx="2299067" cy="464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</a:pPr>
            <a:r>
              <a:rPr lang="es-MX" sz="3337" b="1" dirty="0">
                <a:solidFill>
                  <a:srgbClr val="FF925C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B</a:t>
            </a:r>
            <a:r>
              <a:rPr lang="en-US" sz="3337" b="1" dirty="0" err="1">
                <a:solidFill>
                  <a:srgbClr val="FF925C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osques</a:t>
            </a:r>
            <a:endParaRPr lang="en-US" sz="3337" b="1" dirty="0">
              <a:solidFill>
                <a:srgbClr val="FF925C"/>
              </a:solidFill>
              <a:latin typeface="Campton Semi-Bold"/>
              <a:ea typeface="Campton Semi-Bold"/>
              <a:cs typeface="Campton Semi-Bold"/>
              <a:sym typeface="Campton Semi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90459" y="7561401"/>
            <a:ext cx="4506368" cy="108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7"/>
              </a:lnSpc>
            </a:pPr>
            <a:r>
              <a:rPr lang="en-US" sz="2586" b="1" dirty="0" err="1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Espacios</a:t>
            </a:r>
            <a:r>
              <a:rPr lang="en-US" sz="2586" b="1" dirty="0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 </a:t>
            </a:r>
          </a:p>
          <a:p>
            <a:pPr algn="l">
              <a:lnSpc>
                <a:spcPts val="2767"/>
              </a:lnSpc>
            </a:pPr>
            <a:r>
              <a:rPr lang="en-US" sz="2586" b="1" dirty="0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que </a:t>
            </a:r>
            <a:r>
              <a:rPr lang="en-US" sz="2586" b="1" dirty="0" err="1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impulsan</a:t>
            </a:r>
            <a:r>
              <a:rPr lang="en-US" sz="2586" b="1" dirty="0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 </a:t>
            </a:r>
          </a:p>
          <a:p>
            <a:pPr algn="l">
              <a:lnSpc>
                <a:spcPts val="2767"/>
              </a:lnSpc>
            </a:pPr>
            <a:r>
              <a:rPr lang="en-US" sz="2586" b="1" dirty="0" err="1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tu</a:t>
            </a:r>
            <a:r>
              <a:rPr lang="en-US" sz="2586" b="1" dirty="0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 </a:t>
            </a:r>
            <a:r>
              <a:rPr lang="en-US" sz="2586" b="1" dirty="0" err="1">
                <a:solidFill>
                  <a:srgbClr val="FF925C"/>
                </a:solidFill>
                <a:latin typeface="Campton Bold"/>
                <a:ea typeface="Campton Bold"/>
                <a:cs typeface="Campton Bold"/>
                <a:sym typeface="Campton Bold"/>
              </a:rPr>
              <a:t>operación</a:t>
            </a:r>
            <a:endParaRPr lang="en-US" sz="2586" b="1" dirty="0">
              <a:solidFill>
                <a:srgbClr val="FF925C"/>
              </a:solidFill>
              <a:latin typeface="Campton Bold"/>
              <a:ea typeface="Campton Bold"/>
              <a:cs typeface="Campton Bold"/>
              <a:sym typeface="Campton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90459" y="8701320"/>
            <a:ext cx="3152939" cy="471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lang="en-US" sz="1321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Coworking y </a:t>
            </a:r>
            <a:r>
              <a:rPr lang="en-US" sz="1321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oficinas</a:t>
            </a:r>
            <a:r>
              <a:rPr lang="en-US" sz="1321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para </a:t>
            </a:r>
          </a:p>
          <a:p>
            <a:pPr marL="0" lvl="0" indent="0" algn="l">
              <a:lnSpc>
                <a:spcPts val="1850"/>
              </a:lnSpc>
              <a:spcBef>
                <a:spcPct val="0"/>
              </a:spcBef>
            </a:pPr>
            <a:r>
              <a:rPr lang="en-US" sz="1321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escalar</a:t>
            </a:r>
            <a:r>
              <a:rPr lang="en-US" sz="1321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con </a:t>
            </a:r>
            <a:r>
              <a:rPr lang="en-US" sz="1321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estrategia</a:t>
            </a:r>
            <a:r>
              <a:rPr lang="en-US" sz="1321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4996" y="2579766"/>
            <a:ext cx="2080164" cy="65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00"/>
              </a:lnSpc>
              <a:spcBef>
                <a:spcPct val="0"/>
              </a:spcBef>
            </a:pPr>
            <a:r>
              <a:rPr lang="es-MX" sz="930" b="1" dirty="0">
                <a:solidFill>
                  <a:schemeClr val="bg1"/>
                </a:solidFill>
                <a:effectLst/>
                <a:latin typeface="Campton Light" panose="020B0604020202020204" charset="0"/>
                <a:ea typeface="Gilroy ExtraBold"/>
                <a:cs typeface="Gilroy ExtraBold"/>
              </a:rPr>
              <a:t>Av. Aguascalientes Norte No. 517 Col. Bosques del Prado Sur, Aguascalientes, </a:t>
            </a:r>
            <a:r>
              <a:rPr lang="es-MX" sz="930" b="1" dirty="0" err="1">
                <a:solidFill>
                  <a:schemeClr val="bg1"/>
                </a:solidFill>
                <a:effectLst/>
                <a:latin typeface="Campton Light" panose="020B0604020202020204" charset="0"/>
                <a:ea typeface="Gilroy ExtraBold"/>
                <a:cs typeface="Gilroy ExtraBold"/>
              </a:rPr>
              <a:t>Ags</a:t>
            </a:r>
            <a:r>
              <a:rPr lang="es-MX" sz="930" b="1" dirty="0">
                <a:solidFill>
                  <a:schemeClr val="bg1"/>
                </a:solidFill>
                <a:effectLst/>
                <a:latin typeface="Campton Light" panose="020B0604020202020204" charset="0"/>
                <a:ea typeface="Gilroy ExtraBold"/>
                <a:cs typeface="Gilroy ExtraBold"/>
              </a:rPr>
              <a:t>.</a:t>
            </a:r>
            <a:br>
              <a:rPr lang="es-MX" sz="930" b="1" dirty="0">
                <a:solidFill>
                  <a:schemeClr val="bg1"/>
                </a:solidFill>
                <a:effectLst/>
                <a:latin typeface="Campton Light" panose="020B0604020202020204" charset="0"/>
                <a:ea typeface="Gilroy ExtraBold"/>
                <a:cs typeface="Gilroy ExtraBold"/>
              </a:rPr>
            </a:br>
            <a:r>
              <a:rPr lang="es-MX" sz="930" b="1" dirty="0">
                <a:solidFill>
                  <a:schemeClr val="bg1"/>
                </a:solidFill>
                <a:effectLst/>
                <a:latin typeface="Campton Light" panose="020B0604020202020204" charset="0"/>
                <a:ea typeface="Gilroy ExtraBold"/>
                <a:cs typeface="Gilroy ExtraBold"/>
              </a:rPr>
              <a:t>C.P. 20130 </a:t>
            </a:r>
            <a:endParaRPr lang="en-US" sz="930" dirty="0">
              <a:solidFill>
                <a:schemeClr val="bg1"/>
              </a:solidFill>
              <a:latin typeface="Campton Light" panose="020B0604020202020204" charset="0"/>
              <a:ea typeface="Campton Light"/>
              <a:cs typeface="Campton Light"/>
              <a:sym typeface="Campton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407BA02-FC4C-42C3-B617-85961FE2F38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2" y="4775"/>
            <a:ext cx="7762736" cy="100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578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2473475" y="1219200"/>
            <a:ext cx="2825450" cy="364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67"/>
              </a:lnSpc>
            </a:pPr>
            <a:r>
              <a:rPr lang="en-US" sz="3600" b="1" dirty="0">
                <a:solidFill>
                  <a:srgbClr val="FF925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Layout</a:t>
            </a:r>
            <a:r>
              <a:rPr lang="en-US" sz="3600" b="1" dirty="0">
                <a:solidFill>
                  <a:srgbClr val="081C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E44F5ED-7D3E-4AFE-99FB-F2FC5DFBBE3C}"/>
              </a:ext>
            </a:extLst>
          </p:cNvPr>
          <p:cNvSpPr txBox="1"/>
          <p:nvPr/>
        </p:nvSpPr>
        <p:spPr>
          <a:xfrm>
            <a:off x="2541084" y="1598579"/>
            <a:ext cx="2690233" cy="399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67"/>
              </a:lnSpc>
            </a:pPr>
            <a:r>
              <a:rPr lang="en-US" b="1" dirty="0">
                <a:solidFill>
                  <a:srgbClr val="081C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sz="1800" b="1" dirty="0">
                <a:solidFill>
                  <a:srgbClr val="081C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entro de </a:t>
            </a:r>
            <a:r>
              <a:rPr lang="en-US" sz="1800" b="1" dirty="0" err="1">
                <a:solidFill>
                  <a:srgbClr val="081C4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negocios</a:t>
            </a:r>
            <a:endParaRPr lang="en-US" sz="1800" b="1" dirty="0">
              <a:solidFill>
                <a:srgbClr val="081C4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9A7C6C-F9EE-4412-A6A0-78385D76CFA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604613"/>
            <a:ext cx="7772400" cy="5855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B19A52-D2BA-4A0F-BEB2-240D7652D2C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98" y="0"/>
            <a:ext cx="7738203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17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5079BEE6-3742-4F94-BE78-811E0DFC84E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699292"/>
            <a:ext cx="7772400" cy="220670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968A598-7B11-4A24-9AF2-200AE6818CBC}"/>
              </a:ext>
            </a:extLst>
          </p:cNvPr>
          <p:cNvSpPr/>
          <p:nvPr/>
        </p:nvSpPr>
        <p:spPr>
          <a:xfrm>
            <a:off x="152400" y="2234542"/>
            <a:ext cx="7467600" cy="53854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42944" y="476533"/>
            <a:ext cx="1943015" cy="653339"/>
          </a:xfrm>
          <a:custGeom>
            <a:avLst/>
            <a:gdLst/>
            <a:ahLst/>
            <a:cxnLst/>
            <a:rect l="l" t="t" r="r" b="b"/>
            <a:pathLst>
              <a:path w="1943015" h="653339">
                <a:moveTo>
                  <a:pt x="0" y="0"/>
                </a:moveTo>
                <a:lnTo>
                  <a:pt x="1943015" y="0"/>
                </a:lnTo>
                <a:lnTo>
                  <a:pt x="1943015" y="653339"/>
                </a:lnTo>
                <a:lnTo>
                  <a:pt x="0" y="653339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2944" y="1434672"/>
            <a:ext cx="7013590" cy="605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12"/>
              </a:lnSpc>
            </a:pP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Estimado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cliente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,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agradecemos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la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oportunidad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de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ofrecerle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nuestros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servicios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,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confiando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plenamente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en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que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somos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la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opción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ideal para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satisfacer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sus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necesidades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de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oficinas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equipadas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,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en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cualquiera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de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nuestras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 </a:t>
            </a:r>
            <a:r>
              <a:rPr lang="en-US" sz="1152" dirty="0" err="1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sedes</a:t>
            </a:r>
            <a:r>
              <a:rPr lang="en-US" sz="1152" dirty="0">
                <a:solidFill>
                  <a:srgbClr val="081C4B"/>
                </a:solidFill>
                <a:latin typeface="Campton Medium" panose="020B0004020102020203" pitchFamily="34" charset="0"/>
                <a:ea typeface="Campton Light"/>
                <a:cs typeface="Campton Light"/>
                <a:sym typeface="Campton Light"/>
              </a:rPr>
              <a:t>.</a:t>
            </a: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B54CF5F8-3209-407E-839D-17E56A093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969386"/>
              </p:ext>
            </p:extLst>
          </p:nvPr>
        </p:nvGraphicFramePr>
        <p:xfrm>
          <a:off x="376859" y="2405740"/>
          <a:ext cx="7013591" cy="2330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41">
                  <a:extLst>
                    <a:ext uri="{9D8B030D-6E8A-4147-A177-3AD203B41FA5}">
                      <a16:colId xmlns:a16="http://schemas.microsoft.com/office/drawing/2014/main" val="133920585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44285043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75300686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951473522"/>
                    </a:ext>
                  </a:extLst>
                </a:gridCol>
                <a:gridCol w="1142050">
                  <a:extLst>
                    <a:ext uri="{9D8B030D-6E8A-4147-A177-3AD203B41FA5}">
                      <a16:colId xmlns:a16="http://schemas.microsoft.com/office/drawing/2014/main" val="649492760"/>
                    </a:ext>
                  </a:extLst>
                </a:gridCol>
              </a:tblGrid>
              <a:tr h="335156"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Cantidad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Descripción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Personas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Horas en sala de juntas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Precio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C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00917"/>
                  </a:ext>
                </a:extLst>
              </a:tr>
              <a:tr h="498801"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Oficina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800" b="0" i="0" dirty="0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361097"/>
                  </a:ext>
                </a:extLst>
              </a:tr>
              <a:tr h="498801"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275910"/>
                  </a:ext>
                </a:extLst>
              </a:tr>
              <a:tr h="498801"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252958"/>
                  </a:ext>
                </a:extLst>
              </a:tr>
              <a:tr h="498801"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MX" sz="800" b="0" i="0" dirty="0">
                        <a:solidFill>
                          <a:srgbClr val="002060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68344"/>
                  </a:ext>
                </a:extLst>
              </a:tr>
            </a:tbl>
          </a:graphicData>
        </a:graphic>
      </p:graphicFrame>
      <p:graphicFrame>
        <p:nvGraphicFramePr>
          <p:cNvPr id="14" name="Tabla 20">
            <a:extLst>
              <a:ext uri="{FF2B5EF4-FFF2-40B4-BE49-F238E27FC236}">
                <a16:creationId xmlns:a16="http://schemas.microsoft.com/office/drawing/2014/main" id="{E2E3DAD7-112D-4FA7-A619-926B40BEE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715485"/>
              </p:ext>
            </p:extLst>
          </p:nvPr>
        </p:nvGraphicFramePr>
        <p:xfrm>
          <a:off x="5105400" y="4919104"/>
          <a:ext cx="2285050" cy="86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583085105"/>
                    </a:ext>
                  </a:extLst>
                </a:gridCol>
                <a:gridCol w="1218250">
                  <a:extLst>
                    <a:ext uri="{9D8B030D-6E8A-4147-A177-3AD203B41FA5}">
                      <a16:colId xmlns:a16="http://schemas.microsoft.com/office/drawing/2014/main" val="1089036932"/>
                    </a:ext>
                  </a:extLst>
                </a:gridCol>
              </a:tblGrid>
              <a:tr h="286716"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Subtotal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52987"/>
                  </a:ext>
                </a:extLst>
              </a:tr>
              <a:tr h="294895"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IVA</a:t>
                      </a: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963062"/>
                  </a:ext>
                </a:extLst>
              </a:tr>
              <a:tr h="286716"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Total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900" dirty="0">
                          <a:solidFill>
                            <a:srgbClr val="081C4C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  <a:endParaRPr lang="en-US" sz="900" dirty="0">
                        <a:solidFill>
                          <a:srgbClr val="081C4C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70697" marR="70697" marT="35349" marB="353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090798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D924C138-8785-4E41-86BD-24819E6120AC}"/>
              </a:ext>
            </a:extLst>
          </p:cNvPr>
          <p:cNvSpPr txBox="1"/>
          <p:nvPr/>
        </p:nvSpPr>
        <p:spPr>
          <a:xfrm>
            <a:off x="415866" y="6125196"/>
            <a:ext cx="14028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b="1" dirty="0">
                <a:solidFill>
                  <a:srgbClr val="002060"/>
                </a:solidFill>
                <a:latin typeface="Campton Medium" panose="020B0004020102020203" pitchFamily="34" charset="0"/>
              </a:rPr>
              <a:t>¿Qué incluye?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CD78461-9270-43D3-BAF9-A47D6162C6F4}"/>
              </a:ext>
            </a:extLst>
          </p:cNvPr>
          <p:cNvSpPr/>
          <p:nvPr/>
        </p:nvSpPr>
        <p:spPr>
          <a:xfrm>
            <a:off x="458150" y="6568669"/>
            <a:ext cx="417758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Sala de Juntas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Mobiliario ergonómico incluido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Internet de alta velocidad - simétrico 100 MB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4 líneas de Telefonía entrante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Áreas de colaboración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8F44AC9-DD98-4B47-85FB-6FCB504E38AC}"/>
              </a:ext>
            </a:extLst>
          </p:cNvPr>
          <p:cNvSpPr txBox="1"/>
          <p:nvPr/>
        </p:nvSpPr>
        <p:spPr>
          <a:xfrm>
            <a:off x="3923081" y="6568669"/>
            <a:ext cx="33921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Servicio de luz, agua y mantenimiento incluido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Acceso biométrico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CCTV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Café, agua, y 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000" dirty="0">
                <a:solidFill>
                  <a:srgbClr val="081C4B"/>
                </a:solidFill>
                <a:latin typeface="Campton Medium" panose="020B0004020102020203" pitchFamily="34" charset="0"/>
              </a:rPr>
              <a:t>Servicio de limpieza diaria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772400" cy="10058400"/>
            <a:chOff x="0" y="0"/>
            <a:chExt cx="4677958" cy="6053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77958" cy="6053828"/>
            </a:xfrm>
            <a:custGeom>
              <a:avLst/>
              <a:gdLst/>
              <a:ahLst/>
              <a:cxnLst/>
              <a:rect l="l" t="t" r="r" b="b"/>
              <a:pathLst>
                <a:path w="4677958" h="6053828">
                  <a:moveTo>
                    <a:pt x="0" y="0"/>
                  </a:moveTo>
                  <a:lnTo>
                    <a:pt x="4677958" y="0"/>
                  </a:lnTo>
                  <a:lnTo>
                    <a:pt x="4677958" y="6053828"/>
                  </a:lnTo>
                  <a:lnTo>
                    <a:pt x="0" y="6053828"/>
                  </a:lnTo>
                  <a:close/>
                </a:path>
              </a:pathLst>
            </a:custGeom>
            <a:solidFill>
              <a:srgbClr val="081C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77958" cy="6091928"/>
            </a:xfrm>
            <a:prstGeom prst="rect">
              <a:avLst/>
            </a:prstGeom>
          </p:spPr>
          <p:txBody>
            <a:bodyPr lIns="20007" tIns="20007" rIns="20007" bIns="20007" rtlCol="0" anchor="ctr"/>
            <a:lstStyle/>
            <a:p>
              <a:pPr algn="ctr">
                <a:lnSpc>
                  <a:spcPts val="132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7772400" cy="9950400"/>
          </a:xfrm>
          <a:custGeom>
            <a:avLst/>
            <a:gdLst/>
            <a:ahLst/>
            <a:cxnLst/>
            <a:rect l="l" t="t" r="r" b="b"/>
            <a:pathLst>
              <a:path w="7772400" h="9950400">
                <a:moveTo>
                  <a:pt x="0" y="0"/>
                </a:moveTo>
                <a:lnTo>
                  <a:pt x="7772400" y="0"/>
                </a:lnTo>
                <a:lnTo>
                  <a:pt x="7772400" y="9950400"/>
                </a:lnTo>
                <a:lnTo>
                  <a:pt x="0" y="995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alphaModFix amt="57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01769" y="8625251"/>
            <a:ext cx="304484" cy="303017"/>
          </a:xfrm>
          <a:custGeom>
            <a:avLst/>
            <a:gdLst/>
            <a:ahLst/>
            <a:cxnLst/>
            <a:rect l="l" t="t" r="r" b="b"/>
            <a:pathLst>
              <a:path w="304484" h="303017">
                <a:moveTo>
                  <a:pt x="0" y="0"/>
                </a:moveTo>
                <a:lnTo>
                  <a:pt x="304484" y="0"/>
                </a:lnTo>
                <a:lnTo>
                  <a:pt x="304484" y="303017"/>
                </a:lnTo>
                <a:lnTo>
                  <a:pt x="0" y="303017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86961" y="8625251"/>
            <a:ext cx="315589" cy="315589"/>
          </a:xfrm>
          <a:custGeom>
            <a:avLst/>
            <a:gdLst/>
            <a:ahLst/>
            <a:cxnLst/>
            <a:rect l="l" t="t" r="r" b="b"/>
            <a:pathLst>
              <a:path w="315589" h="315589">
                <a:moveTo>
                  <a:pt x="0" y="0"/>
                </a:moveTo>
                <a:lnTo>
                  <a:pt x="315589" y="0"/>
                </a:lnTo>
                <a:lnTo>
                  <a:pt x="315589" y="315589"/>
                </a:lnTo>
                <a:lnTo>
                  <a:pt x="0" y="315589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714617" y="8625251"/>
            <a:ext cx="303017" cy="303017"/>
          </a:xfrm>
          <a:custGeom>
            <a:avLst/>
            <a:gdLst/>
            <a:ahLst/>
            <a:cxnLst/>
            <a:rect l="l" t="t" r="r" b="b"/>
            <a:pathLst>
              <a:path w="303017" h="303017">
                <a:moveTo>
                  <a:pt x="0" y="0"/>
                </a:moveTo>
                <a:lnTo>
                  <a:pt x="303016" y="0"/>
                </a:lnTo>
                <a:lnTo>
                  <a:pt x="303016" y="303017"/>
                </a:lnTo>
                <a:lnTo>
                  <a:pt x="0" y="303017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001113" y="2143861"/>
            <a:ext cx="1770174" cy="1740752"/>
          </a:xfrm>
          <a:custGeom>
            <a:avLst/>
            <a:gdLst/>
            <a:ahLst/>
            <a:cxnLst/>
            <a:rect l="l" t="t" r="r" b="b"/>
            <a:pathLst>
              <a:path w="1770174" h="1740752">
                <a:moveTo>
                  <a:pt x="0" y="0"/>
                </a:moveTo>
                <a:lnTo>
                  <a:pt x="1770174" y="0"/>
                </a:lnTo>
                <a:lnTo>
                  <a:pt x="1770174" y="1740752"/>
                </a:lnTo>
                <a:lnTo>
                  <a:pt x="0" y="1740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46047" y="4308391"/>
            <a:ext cx="4880306" cy="517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230" b="1" dirty="0" err="1">
                <a:solidFill>
                  <a:srgbClr val="FF925C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Empieza</a:t>
            </a:r>
            <a:r>
              <a:rPr lang="en-US" sz="3230" b="1" dirty="0">
                <a:solidFill>
                  <a:srgbClr val="FF925C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con Nodus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8348" y="7946641"/>
            <a:ext cx="3156557" cy="900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300" b="1" dirty="0">
                <a:solidFill>
                  <a:schemeClr val="bg1"/>
                </a:solidFill>
                <a:latin typeface="Campton Medium" panose="020B0004020102020203" pitchFamily="34" charset="0"/>
                <a:ea typeface="Gilroy ExtraBold"/>
                <a:cs typeface="Gilroy ExtraBold"/>
              </a:rPr>
              <a:t>+52</a:t>
            </a:r>
            <a:r>
              <a:rPr lang="es-MX" sz="1300" b="1" dirty="0">
                <a:solidFill>
                  <a:schemeClr val="bg1"/>
                </a:solidFill>
                <a:effectLst/>
                <a:latin typeface="Campton Medium" panose="020B0004020102020203" pitchFamily="34" charset="0"/>
                <a:ea typeface="Gilroy ExtraBold"/>
                <a:cs typeface="Gilroy ExtraBold"/>
              </a:rPr>
              <a:t> 449 925 1975 Ext. 4000</a:t>
            </a:r>
            <a:endParaRPr lang="en-US" sz="1300" dirty="0">
              <a:solidFill>
                <a:schemeClr val="bg1"/>
              </a:solidFill>
              <a:effectLst/>
              <a:latin typeface="Campton Medium" panose="020B0004020102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1300" b="1" dirty="0">
                <a:solidFill>
                  <a:schemeClr val="bg1"/>
                </a:solidFill>
                <a:effectLst/>
                <a:latin typeface="Campton Medium" panose="020B0004020102020203" pitchFamily="34" charset="0"/>
                <a:ea typeface="Gilroy ExtraBold"/>
                <a:cs typeface="Gilroy ExtraBold"/>
              </a:rPr>
              <a:t>+52 449 720 5013</a:t>
            </a:r>
            <a:endParaRPr lang="en-US" sz="1300" dirty="0">
              <a:solidFill>
                <a:schemeClr val="bg1"/>
              </a:solidFill>
              <a:effectLst/>
              <a:latin typeface="Campton Medium" panose="020B0004020102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ts val="2293"/>
              </a:lnSpc>
            </a:pPr>
            <a:endParaRPr lang="en-US" sz="1300" b="1" dirty="0">
              <a:solidFill>
                <a:schemeClr val="bg1"/>
              </a:solidFill>
              <a:latin typeface="Campton Medium" panose="020B0004020102020203" pitchFamily="34" charset="0"/>
              <a:ea typeface="Campton Medium"/>
              <a:cs typeface="Campton Medium"/>
              <a:sym typeface="Campton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30585" y="8591669"/>
            <a:ext cx="3572307" cy="23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66"/>
              </a:lnSpc>
              <a:spcBef>
                <a:spcPct val="0"/>
              </a:spcBef>
            </a:pPr>
            <a:r>
              <a:rPr lang="en-US" sz="1333" b="1" dirty="0">
                <a:solidFill>
                  <a:srgbClr val="FFFFFF"/>
                </a:solidFill>
                <a:latin typeface="Campton Medium"/>
                <a:ea typeface="Campton Medium"/>
                <a:cs typeface="Campton Medium"/>
                <a:sym typeface="Campton Medium"/>
              </a:rPr>
              <a:t>administracion_bosques@nodusbc.mx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1166" y="8918007"/>
            <a:ext cx="1601029" cy="230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6"/>
              </a:lnSpc>
              <a:spcBef>
                <a:spcPct val="0"/>
              </a:spcBef>
            </a:pPr>
            <a:r>
              <a:rPr lang="en-US" sz="1333" b="1" dirty="0">
                <a:solidFill>
                  <a:srgbClr val="FFFFFF"/>
                </a:solidFill>
                <a:latin typeface="Campton Medium"/>
                <a:ea typeface="Campton Medium"/>
                <a:cs typeface="Campton Medium"/>
                <a:sym typeface="Campton Medium"/>
              </a:rPr>
              <a:t>www.nodus.mx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73361" y="5039835"/>
            <a:ext cx="3625678" cy="645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19"/>
              </a:lnSpc>
              <a:spcBef>
                <a:spcPct val="0"/>
              </a:spcBef>
            </a:pP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Instala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tu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operación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,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haz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crecer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tu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equipo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o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profesionaliza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tu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presencia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en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</a:t>
            </a:r>
            <a:r>
              <a:rPr lang="en-US" sz="1228" b="1" dirty="0" err="1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el</a:t>
            </a:r>
            <a:r>
              <a:rPr lang="en-US" sz="1228" b="1" dirty="0">
                <a:solidFill>
                  <a:srgbClr val="FFFFFF"/>
                </a:solidFill>
                <a:latin typeface="Campton Semi-Bold"/>
                <a:ea typeface="Campton Semi-Bold"/>
                <a:cs typeface="Campton Semi-Bold"/>
                <a:sym typeface="Campton Semi-Bold"/>
              </a:rPr>
              <a:t> mercado.</a:t>
            </a:r>
          </a:p>
          <a:p>
            <a:pPr marL="0" lvl="0" indent="0" algn="ctr">
              <a:lnSpc>
                <a:spcPts val="1719"/>
              </a:lnSpc>
              <a:spcBef>
                <a:spcPct val="0"/>
              </a:spcBef>
            </a:pPr>
            <a:endParaRPr lang="en-US" sz="1228" b="1" dirty="0">
              <a:solidFill>
                <a:srgbClr val="FFFFFF"/>
              </a:solidFill>
              <a:latin typeface="Campton Semi-Bold"/>
              <a:ea typeface="Campton Semi-Bold"/>
              <a:cs typeface="Campton Semi-Bold"/>
              <a:sym typeface="Campton Semi-Bold"/>
            </a:endParaRPr>
          </a:p>
        </p:txBody>
      </p:sp>
      <p:sp>
        <p:nvSpPr>
          <p:cNvPr id="15" name="AutoShape 15"/>
          <p:cNvSpPr/>
          <p:nvPr/>
        </p:nvSpPr>
        <p:spPr>
          <a:xfrm flipV="1">
            <a:off x="536403" y="8013957"/>
            <a:ext cx="0" cy="1153765"/>
          </a:xfrm>
          <a:prstGeom prst="line">
            <a:avLst/>
          </a:prstGeom>
          <a:ln w="28575" cap="flat">
            <a:solidFill>
              <a:srgbClr val="51A5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536403" y="7337528"/>
            <a:ext cx="1901996" cy="376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  <a:spcBef>
                <a:spcPct val="0"/>
              </a:spcBef>
            </a:pPr>
            <a:r>
              <a:rPr lang="es-MX" sz="2199" dirty="0">
                <a:solidFill>
                  <a:srgbClr val="FFFFFF"/>
                </a:solidFill>
                <a:latin typeface="Campton Bold" panose="020B0604020202020204" charset="0"/>
                <a:ea typeface="Campton Light"/>
                <a:cs typeface="Campton Light"/>
                <a:sym typeface="Campton Light"/>
              </a:rPr>
              <a:t>B</a:t>
            </a:r>
            <a:r>
              <a:rPr lang="en-US" sz="2199" dirty="0" err="1">
                <a:solidFill>
                  <a:srgbClr val="FFFFFF"/>
                </a:solidFill>
                <a:latin typeface="Campton Bold" panose="020B0604020202020204" charset="0"/>
                <a:ea typeface="Campton Light"/>
                <a:cs typeface="Campton Light"/>
                <a:sym typeface="Campton Light"/>
              </a:rPr>
              <a:t>osques</a:t>
            </a:r>
            <a:endParaRPr lang="en-US" sz="2199" dirty="0">
              <a:solidFill>
                <a:srgbClr val="FFFFFF"/>
              </a:solidFill>
              <a:latin typeface="Campton Bold" panose="020B0604020202020204" charset="0"/>
              <a:ea typeface="Campton Light"/>
              <a:cs typeface="Campton Light"/>
              <a:sym typeface="Campton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</TotalTime>
  <Words>189</Words>
  <Application>Microsoft Office PowerPoint</Application>
  <PresentationFormat>Personalizado</PresentationFormat>
  <Paragraphs>44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Campton Light</vt:lpstr>
      <vt:lpstr>Arial</vt:lpstr>
      <vt:lpstr>Montserrat Bold</vt:lpstr>
      <vt:lpstr>Campton Bold</vt:lpstr>
      <vt:lpstr>Calibri</vt:lpstr>
      <vt:lpstr>Campton Medium</vt:lpstr>
      <vt:lpstr>Campton Semi-Bold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Cotizacion_P45</dc:title>
  <dc:creator>Diseno Nodus</dc:creator>
  <cp:lastModifiedBy>Diseno Nodus</cp:lastModifiedBy>
  <cp:revision>29</cp:revision>
  <dcterms:created xsi:type="dcterms:W3CDTF">2006-08-16T00:00:00Z</dcterms:created>
  <dcterms:modified xsi:type="dcterms:W3CDTF">2026-08-17T15:56:39Z</dcterms:modified>
  <dc:identifier>DAG0l_9lReY</dc:identifier>
</cp:coreProperties>
</file>