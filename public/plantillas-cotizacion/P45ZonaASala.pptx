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2" r:id="rId3"/>
    <p:sldId id="265" r:id="rId4"/>
    <p:sldId id="268" r:id="rId5"/>
    <p:sldId id="269" r:id="rId6"/>
    <p:sldId id="264" r:id="rId7"/>
    <p:sldId id="270" r:id="rId8"/>
    <p:sldId id="260" r:id="rId9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2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5687"/>
  </p:normalViewPr>
  <p:slideViewPr>
    <p:cSldViewPr snapToGrid="0" snapToObjects="1">
      <p:cViewPr varScale="1">
        <p:scale>
          <a:sx n="75" d="100"/>
          <a:sy n="75" d="100"/>
        </p:scale>
        <p:origin x="148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4539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60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5281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7571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262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04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724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615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218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931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703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118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EA22714-DEAE-4B5C-A46D-028400400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" y="321"/>
            <a:ext cx="10057568" cy="777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948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AB982702-5D57-4A23-BFB4-E2C3AF8DEA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1095522" y="1123461"/>
            <a:ext cx="7772399" cy="552547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E62184C-F806-4371-9F55-1313D513B2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8485" y="0"/>
            <a:ext cx="4371975" cy="77724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1F68E77-4939-4219-81BB-3C073B3FC46A}"/>
              </a:ext>
            </a:extLst>
          </p:cNvPr>
          <p:cNvSpPr/>
          <p:nvPr/>
        </p:nvSpPr>
        <p:spPr>
          <a:xfrm flipH="1">
            <a:off x="8214360" y="6733540"/>
            <a:ext cx="1816100" cy="368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latin typeface="Campton Medium" panose="020B0004020102020203" pitchFamily="34" charset="0"/>
              </a:rPr>
              <a:t>20 personas</a:t>
            </a:r>
            <a:endParaRPr lang="en-US" sz="1400" dirty="0">
              <a:latin typeface="Campton Medium" panose="020B0004020102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CF70961-8F9A-44B1-8413-03B91A7EB919}"/>
              </a:ext>
            </a:extLst>
          </p:cNvPr>
          <p:cNvSpPr/>
          <p:nvPr/>
        </p:nvSpPr>
        <p:spPr>
          <a:xfrm flipH="1">
            <a:off x="0" y="6731000"/>
            <a:ext cx="1816100" cy="368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latin typeface="Campton Medium" panose="020B0004020102020203" pitchFamily="34" charset="0"/>
              </a:rPr>
              <a:t>10 personas</a:t>
            </a:r>
            <a:endParaRPr lang="en-US" sz="1400" dirty="0">
              <a:latin typeface="Campton Medium" panose="020B0004020102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871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A1B9ED-9533-4C2D-AEDF-3995A1A6E39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35" y="0"/>
            <a:ext cx="4877435" cy="77724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DF548CD-6F6F-413F-B563-EBAC1D309783}"/>
              </a:ext>
            </a:extLst>
          </p:cNvPr>
          <p:cNvSpPr/>
          <p:nvPr/>
        </p:nvSpPr>
        <p:spPr>
          <a:xfrm flipH="1">
            <a:off x="-635" y="7101840"/>
            <a:ext cx="1816100" cy="368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latin typeface="Campton Medium" panose="020B0004020102020203" pitchFamily="34" charset="0"/>
              </a:rPr>
              <a:t>6 personas</a:t>
            </a:r>
            <a:endParaRPr lang="en-US" sz="1400" dirty="0">
              <a:latin typeface="Campton Medium" panose="020B0004020102020203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1FAED5A-F5EB-427C-B638-97735DD83C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9200" y="0"/>
            <a:ext cx="50292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48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EBAB5-7DCE-F342-B9E8-E44CAEDE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07D0622-2F92-4DC9-89CC-9A5B4360C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0129520" cy="7827357"/>
          </a:xfrm>
        </p:spPr>
      </p:pic>
    </p:spTree>
    <p:extLst>
      <p:ext uri="{BB962C8B-B14F-4D97-AF65-F5344CB8AC3E}">
        <p14:creationId xmlns:p14="http://schemas.microsoft.com/office/powerpoint/2010/main" val="1511672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8F82A7F-622C-44DD-97C8-90834C5AD91D}"/>
              </a:ext>
            </a:extLst>
          </p:cNvPr>
          <p:cNvSpPr/>
          <p:nvPr/>
        </p:nvSpPr>
        <p:spPr>
          <a:xfrm>
            <a:off x="0" y="2066898"/>
            <a:ext cx="10058400" cy="44564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745E22-15A2-2643-9F9E-071B00BFC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26644" y="710002"/>
            <a:ext cx="2165971" cy="206211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s-MX" sz="1000" b="1" dirty="0">
                <a:solidFill>
                  <a:srgbClr val="152855"/>
                </a:solidFill>
                <a:latin typeface="Campton Medium" panose="020B0004020102020203" pitchFamily="34" charset="0"/>
              </a:rPr>
              <a:t>Fecha: 00-00-00</a:t>
            </a:r>
          </a:p>
        </p:txBody>
      </p:sp>
      <p:graphicFrame>
        <p:nvGraphicFramePr>
          <p:cNvPr id="7" name="Google Shape;103;p4">
            <a:extLst>
              <a:ext uri="{FF2B5EF4-FFF2-40B4-BE49-F238E27FC236}">
                <a16:creationId xmlns:a16="http://schemas.microsoft.com/office/drawing/2014/main" id="{FD62BAE6-8B19-4E4D-A4AF-374DE69833EC}"/>
              </a:ext>
            </a:extLst>
          </p:cNvPr>
          <p:cNvGraphicFramePr/>
          <p:nvPr/>
        </p:nvGraphicFramePr>
        <p:xfrm>
          <a:off x="604496" y="2314018"/>
          <a:ext cx="8849409" cy="295010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93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6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6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9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 err="1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Item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Descripción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Cantidad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Precio unitario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Total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03332"/>
                  </a:ext>
                </a:extLst>
              </a:tr>
              <a:tr h="642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1</a:t>
                      </a:r>
                      <a:endParaRPr sz="110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Paquete de 1 día</a:t>
                      </a:r>
                      <a:endParaRPr sz="1100" dirty="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1</a:t>
                      </a:r>
                      <a:endParaRPr sz="1100" dirty="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$720.00 MXN</a:t>
                      </a:r>
                      <a:endParaRPr sz="1100" dirty="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$720.00 MXN</a:t>
                      </a:r>
                      <a:endParaRPr sz="1100" dirty="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1</a:t>
                      </a: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239BC603-251B-FD4D-9A7D-549770E620D1}"/>
              </a:ext>
            </a:extLst>
          </p:cNvPr>
          <p:cNvSpPr txBox="1">
            <a:spLocks/>
          </p:cNvSpPr>
          <p:nvPr/>
        </p:nvSpPr>
        <p:spPr>
          <a:xfrm>
            <a:off x="6924678" y="6985454"/>
            <a:ext cx="2567937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66893">
              <a:defRPr>
                <a:latin typeface="+mn-lt"/>
                <a:ea typeface="+mn-ea"/>
                <a:cs typeface="+mn-cs"/>
              </a:defRPr>
            </a:lvl2pPr>
            <a:lvl3pPr marL="933785">
              <a:defRPr>
                <a:latin typeface="+mn-lt"/>
                <a:ea typeface="+mn-ea"/>
                <a:cs typeface="+mn-cs"/>
              </a:defRPr>
            </a:lvl3pPr>
            <a:lvl4pPr marL="1400678">
              <a:defRPr>
                <a:latin typeface="+mn-lt"/>
                <a:ea typeface="+mn-ea"/>
                <a:cs typeface="+mn-cs"/>
              </a:defRPr>
            </a:lvl4pPr>
            <a:lvl5pPr marL="1867571">
              <a:defRPr>
                <a:latin typeface="+mn-lt"/>
                <a:ea typeface="+mn-ea"/>
                <a:cs typeface="+mn-cs"/>
              </a:defRPr>
            </a:lvl5pPr>
            <a:lvl6pPr marL="2334463">
              <a:defRPr>
                <a:latin typeface="+mn-lt"/>
                <a:ea typeface="+mn-ea"/>
                <a:cs typeface="+mn-cs"/>
              </a:defRPr>
            </a:lvl6pPr>
            <a:lvl7pPr marL="2801356">
              <a:defRPr>
                <a:latin typeface="+mn-lt"/>
                <a:ea typeface="+mn-ea"/>
                <a:cs typeface="+mn-cs"/>
              </a:defRPr>
            </a:lvl7pPr>
            <a:lvl8pPr marL="3268248">
              <a:defRPr>
                <a:latin typeface="+mn-lt"/>
                <a:ea typeface="+mn-ea"/>
                <a:cs typeface="+mn-cs"/>
              </a:defRPr>
            </a:lvl8pPr>
            <a:lvl9pPr marL="3735141">
              <a:defRPr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sz="1000" kern="0" dirty="0">
                <a:solidFill>
                  <a:srgbClr val="152855"/>
                </a:solidFill>
                <a:latin typeface="Campton Medium" panose="020B0004020102020203" pitchFamily="34" charset="0"/>
              </a:rPr>
              <a:t>*Cotización válida por 7 días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6941AA5-E1A6-5A46-94AE-D1BCD83BF88A}"/>
              </a:ext>
            </a:extLst>
          </p:cNvPr>
          <p:cNvSpPr/>
          <p:nvPr/>
        </p:nvSpPr>
        <p:spPr>
          <a:xfrm>
            <a:off x="643209" y="6985454"/>
            <a:ext cx="2150792" cy="6008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-Mobiliario ergonómico</a:t>
            </a:r>
          </a:p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-Internet de alta velocidad</a:t>
            </a:r>
          </a:p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-Pantallas </a:t>
            </a:r>
          </a:p>
        </p:txBody>
      </p:sp>
      <p:graphicFrame>
        <p:nvGraphicFramePr>
          <p:cNvPr id="6" name="Tabla 9">
            <a:extLst>
              <a:ext uri="{FF2B5EF4-FFF2-40B4-BE49-F238E27FC236}">
                <a16:creationId xmlns:a16="http://schemas.microsoft.com/office/drawing/2014/main" id="{2D5BD750-0EE0-4BFB-A99D-06FB8327D5CC}"/>
              </a:ext>
            </a:extLst>
          </p:cNvPr>
          <p:cNvGraphicFramePr>
            <a:graphicFrameLocks noGrp="1"/>
          </p:cNvGraphicFramePr>
          <p:nvPr/>
        </p:nvGraphicFramePr>
        <p:xfrm>
          <a:off x="6294153" y="5385451"/>
          <a:ext cx="3157210" cy="865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8">
                  <a:extLst>
                    <a:ext uri="{9D8B030D-6E8A-4147-A177-3AD203B41FA5}">
                      <a16:colId xmlns:a16="http://schemas.microsoft.com/office/drawing/2014/main" val="1010511683"/>
                    </a:ext>
                  </a:extLst>
                </a:gridCol>
                <a:gridCol w="1625582">
                  <a:extLst>
                    <a:ext uri="{9D8B030D-6E8A-4147-A177-3AD203B41FA5}">
                      <a16:colId xmlns:a16="http://schemas.microsoft.com/office/drawing/2014/main" val="2228612497"/>
                    </a:ext>
                  </a:extLst>
                </a:gridCol>
              </a:tblGrid>
              <a:tr h="288338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Subtotal</a:t>
                      </a:r>
                      <a:endParaRPr lang="en-US" sz="1100" dirty="0">
                        <a:solidFill>
                          <a:schemeClr val="tx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380462"/>
                  </a:ext>
                </a:extLst>
              </a:tr>
              <a:tr h="288338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IVA</a:t>
                      </a:r>
                      <a:endParaRPr lang="en-US" sz="1100" dirty="0">
                        <a:solidFill>
                          <a:schemeClr val="tx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489387"/>
                  </a:ext>
                </a:extLst>
              </a:tr>
              <a:tr h="288338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Total</a:t>
                      </a:r>
                      <a:endParaRPr lang="en-US" sz="1100" dirty="0">
                        <a:solidFill>
                          <a:schemeClr val="tx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78583"/>
                  </a:ext>
                </a:extLst>
              </a:tr>
            </a:tbl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227EE07A-E9F1-4119-9112-BEC0E4F16A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496" y="530221"/>
            <a:ext cx="1683971" cy="565774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AAD572-3FBD-4380-BE7E-BD8951BF6853}"/>
              </a:ext>
            </a:extLst>
          </p:cNvPr>
          <p:cNvSpPr/>
          <p:nvPr/>
        </p:nvSpPr>
        <p:spPr>
          <a:xfrm>
            <a:off x="689586" y="6705993"/>
            <a:ext cx="2150792" cy="2033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>
                <a:solidFill>
                  <a:srgbClr val="152855"/>
                </a:solidFill>
                <a:latin typeface="Campton Medium" panose="020B0004020102020203" pitchFamily="34" charset="0"/>
              </a:rPr>
              <a:t>Incluye: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BA4CDC4-B9FA-4484-8296-5234DAD7530F}"/>
              </a:ext>
            </a:extLst>
          </p:cNvPr>
          <p:cNvSpPr/>
          <p:nvPr/>
        </p:nvSpPr>
        <p:spPr>
          <a:xfrm>
            <a:off x="2840378" y="6985454"/>
            <a:ext cx="2150792" cy="6008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-Aire acondicionado</a:t>
            </a:r>
          </a:p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-Staff de recepción</a:t>
            </a:r>
          </a:p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-Café, té y agua.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18216E1-D67B-4FBD-89A2-BB9884B8AD33}"/>
              </a:ext>
            </a:extLst>
          </p:cNvPr>
          <p:cNvSpPr/>
          <p:nvPr/>
        </p:nvSpPr>
        <p:spPr>
          <a:xfrm>
            <a:off x="604496" y="1321510"/>
            <a:ext cx="8712224" cy="6008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s-MX" sz="1100" dirty="0">
                <a:solidFill>
                  <a:srgbClr val="152855"/>
                </a:solidFill>
                <a:latin typeface="Campton Medium" panose="020B0004020102020203" pitchFamily="34" charset="0"/>
              </a:rPr>
              <a:t>A quién corresponda:</a:t>
            </a:r>
          </a:p>
          <a:p>
            <a:pPr>
              <a:lnSpc>
                <a:spcPct val="150000"/>
              </a:lnSpc>
            </a:pPr>
            <a:r>
              <a:rPr lang="es-MX" sz="1100" dirty="0">
                <a:solidFill>
                  <a:srgbClr val="152855"/>
                </a:solidFill>
                <a:latin typeface="Campton Medium" panose="020B0004020102020203" pitchFamily="34" charset="0"/>
              </a:rPr>
              <a:t>Agradeciendo su interés en nuestro centro de negocios, le envío la información solicitada: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1CD30C0-9057-4E5A-80C6-8CE3200B43D0}"/>
              </a:ext>
            </a:extLst>
          </p:cNvPr>
          <p:cNvSpPr/>
          <p:nvPr/>
        </p:nvSpPr>
        <p:spPr>
          <a:xfrm>
            <a:off x="4727509" y="6909382"/>
            <a:ext cx="2150792" cy="6008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</a:t>
            </a:r>
            <a:r>
              <a:rPr lang="es-MX" sz="1050" dirty="0" err="1">
                <a:solidFill>
                  <a:srgbClr val="152855"/>
                </a:solidFill>
                <a:latin typeface="Campton Medium" panose="020B0004020102020203" pitchFamily="34" charset="0"/>
              </a:rPr>
              <a:t>Pintarrón</a:t>
            </a:r>
            <a:endParaRPr lang="es-MX" sz="1050" dirty="0">
              <a:solidFill>
                <a:srgbClr val="152855"/>
              </a:solidFill>
              <a:latin typeface="Campton Medium" panose="020B0004020102020203" pitchFamily="34" charset="0"/>
            </a:endParaRPr>
          </a:p>
          <a:p>
            <a:endParaRPr lang="es-MX" sz="1050" dirty="0">
              <a:solidFill>
                <a:srgbClr val="152855"/>
              </a:solidFill>
              <a:latin typeface="Campton Medium" panose="020B0004020102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819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D7C5C-480C-9748-9B64-FDA59291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4132AC56-6110-4747-A244-A0CB611A1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0058399" cy="7772400"/>
          </a:xfrm>
        </p:spPr>
      </p:pic>
    </p:spTree>
    <p:extLst>
      <p:ext uri="{BB962C8B-B14F-4D97-AF65-F5344CB8AC3E}">
        <p14:creationId xmlns:p14="http://schemas.microsoft.com/office/powerpoint/2010/main" val="234577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7CB0B-CED8-8243-8D1C-798F4B5C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C71F9FF0-934F-41EA-B6CB-F74F01D34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0058400" cy="7772401"/>
          </a:xfrm>
        </p:spPr>
      </p:pic>
    </p:spTree>
    <p:extLst>
      <p:ext uri="{BB962C8B-B14F-4D97-AF65-F5344CB8AC3E}">
        <p14:creationId xmlns:p14="http://schemas.microsoft.com/office/powerpoint/2010/main" val="168824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CA5A99FA-5E14-4CE8-8A82-CB2A63690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5" y="0"/>
            <a:ext cx="10058400" cy="77724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DF74317-A7A9-4EA3-85CA-F46BEB49C1D3}"/>
              </a:ext>
            </a:extLst>
          </p:cNvPr>
          <p:cNvSpPr txBox="1"/>
          <p:nvPr/>
        </p:nvSpPr>
        <p:spPr>
          <a:xfrm>
            <a:off x="7453682" y="5661202"/>
            <a:ext cx="2095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bg1"/>
                </a:solidFill>
                <a:latin typeface="Campton Medium" panose="020B0004020102020203" pitchFamily="34" charset="0"/>
              </a:rPr>
              <a:t>Administración p45</a:t>
            </a:r>
            <a:endParaRPr lang="en-US" sz="1400" dirty="0">
              <a:solidFill>
                <a:schemeClr val="bg1"/>
              </a:solidFill>
              <a:latin typeface="Campton Medium" panose="020B000402010202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CB077E5-F7FB-4767-B9CD-AA5E084456D3}"/>
              </a:ext>
            </a:extLst>
          </p:cNvPr>
          <p:cNvSpPr txBox="1"/>
          <p:nvPr/>
        </p:nvSpPr>
        <p:spPr>
          <a:xfrm>
            <a:off x="7453682" y="6094672"/>
            <a:ext cx="162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mpton Medium" panose="020B0004020102020203" pitchFamily="34" charset="0"/>
              </a:rPr>
              <a:t>4497553371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3360856-61CD-45D6-81E3-BC15BA9214F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625" y="1462622"/>
            <a:ext cx="3829804" cy="128672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E622431-E6F1-4BCC-B93E-DA6336999D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7665" y="6069718"/>
            <a:ext cx="381908" cy="36678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076DEEA4-3E50-49B0-961E-98E19AB8E018}"/>
              </a:ext>
            </a:extLst>
          </p:cNvPr>
          <p:cNvSpPr txBox="1"/>
          <p:nvPr/>
        </p:nvSpPr>
        <p:spPr>
          <a:xfrm>
            <a:off x="349423" y="6334254"/>
            <a:ext cx="4049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sz="1400" i="0" dirty="0">
                <a:solidFill>
                  <a:srgbClr val="FFFFFF"/>
                </a:solidFill>
                <a:effectLst/>
                <a:latin typeface="Campton Medium" panose="020B0004020102020203" pitchFamily="34" charset="0"/>
              </a:rPr>
              <a:t>Instala tu operación, haz crecer tu equipo o profesionaliza tu presencia en el mercado.</a:t>
            </a:r>
            <a:endParaRPr lang="es-ES" sz="1400" dirty="0">
              <a:effectLst/>
              <a:latin typeface="Campton Medium" panose="020B0004020102020203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AF90CCE-4099-4DF7-ADB6-4352E7F052F5}"/>
              </a:ext>
            </a:extLst>
          </p:cNvPr>
          <p:cNvSpPr txBox="1"/>
          <p:nvPr/>
        </p:nvSpPr>
        <p:spPr>
          <a:xfrm>
            <a:off x="349423" y="5768547"/>
            <a:ext cx="4548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sz="2400" b="1" i="0" dirty="0">
                <a:solidFill>
                  <a:srgbClr val="FF925C"/>
                </a:solidFill>
                <a:effectLst/>
                <a:latin typeface="Campton Medium" panose="020B0004020102020203" pitchFamily="34" charset="0"/>
              </a:rPr>
              <a:t>Empieza con Nodus</a:t>
            </a:r>
            <a:endParaRPr lang="es-ES" sz="2400" dirty="0">
              <a:effectLst/>
              <a:latin typeface="Campton Medium" panose="020B0004020102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AD5F51B-0BEF-4FB9-B7E6-49F66A7FF0E3}"/>
              </a:ext>
            </a:extLst>
          </p:cNvPr>
          <p:cNvSpPr txBox="1"/>
          <p:nvPr/>
        </p:nvSpPr>
        <p:spPr>
          <a:xfrm>
            <a:off x="7453682" y="6518279"/>
            <a:ext cx="2255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  <a:latin typeface="Campton Medium" panose="020B0004020102020203" pitchFamily="34" charset="0"/>
              </a:rPr>
              <a:t>www.nodus.mx</a:t>
            </a:r>
            <a:endParaRPr lang="en-US" sz="1600" dirty="0">
              <a:solidFill>
                <a:schemeClr val="bg1"/>
              </a:solidFill>
              <a:latin typeface="Campton Medium" panose="020B0004020102020203" pitchFamily="34" charset="0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E3A98DFB-28E8-49CF-9026-6F2D4666AE3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8189" y="7080288"/>
            <a:ext cx="413844" cy="415388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A5318ACD-9CFA-456E-A687-09ECE64E756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2017" y="7081060"/>
            <a:ext cx="413844" cy="413844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8F298402-FB6B-41DA-A30E-5B8DA3028F1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0481" y="7093016"/>
            <a:ext cx="449283" cy="38993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CCA3BD19-1C63-46F8-A675-6F08146A5E1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2434" y="6564630"/>
            <a:ext cx="312370" cy="312370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F4003F61-A097-4C96-B62F-76168D0048F0}"/>
              </a:ext>
            </a:extLst>
          </p:cNvPr>
          <p:cNvSpPr txBox="1"/>
          <p:nvPr/>
        </p:nvSpPr>
        <p:spPr>
          <a:xfrm>
            <a:off x="349423" y="7148394"/>
            <a:ext cx="29765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50" dirty="0">
                <a:solidFill>
                  <a:srgbClr val="FF925C"/>
                </a:solidFill>
                <a:latin typeface="Campton Medium" panose="020B0004020102020203" pitchFamily="34" charset="0"/>
              </a:rPr>
              <a:t>Tu espacio, tu operación, tu crecimiento.</a:t>
            </a:r>
            <a:endParaRPr lang="en-US" sz="1050" dirty="0">
              <a:solidFill>
                <a:srgbClr val="FF925C"/>
              </a:solidFill>
              <a:latin typeface="Campton Medium" panose="020B0004020102020203" pitchFamily="34" charset="0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AF7906B7-A714-497C-9577-A5B55F2C93D9}"/>
              </a:ext>
            </a:extLst>
          </p:cNvPr>
          <p:cNvCxnSpPr>
            <a:cxnSpLocks/>
          </p:cNvCxnSpPr>
          <p:nvPr/>
        </p:nvCxnSpPr>
        <p:spPr>
          <a:xfrm>
            <a:off x="6533762" y="5720703"/>
            <a:ext cx="0" cy="176224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Imagen 40">
            <a:extLst>
              <a:ext uri="{FF2B5EF4-FFF2-40B4-BE49-F238E27FC236}">
                <a16:creationId xmlns:a16="http://schemas.microsoft.com/office/drawing/2014/main" id="{F950C062-7934-4BBF-91E1-45B1743A3EF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8343" y="5666415"/>
            <a:ext cx="302564" cy="30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569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771</TotalTime>
  <Words>123</Words>
  <Application>Microsoft Office PowerPoint</Application>
  <PresentationFormat>Personalizado</PresentationFormat>
  <Paragraphs>38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Campton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Diseno Nodus</cp:lastModifiedBy>
  <cp:revision>43</cp:revision>
  <cp:lastPrinted>2022-11-02T16:57:36Z</cp:lastPrinted>
  <dcterms:created xsi:type="dcterms:W3CDTF">2022-11-01T19:40:11Z</dcterms:created>
  <dcterms:modified xsi:type="dcterms:W3CDTF">2026-03-19T18:55:03Z</dcterms:modified>
</cp:coreProperties>
</file>